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23960" y="914400"/>
            <a:ext cx="2651760" cy="32004"/>
          </a:xfrm>
          <a:prstGeom prst="rect">
            <a:avLst/>
          </a:prstGeom>
          <a:solidFill>
            <a:srgbClr val="254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15400" y="850392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0" y="850392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21240" y="850392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24160" y="850392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27080" y="850392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23960" y="1572768"/>
            <a:ext cx="2651760" cy="32004"/>
          </a:xfrm>
          <a:prstGeom prst="rect">
            <a:avLst/>
          </a:prstGeom>
          <a:solidFill>
            <a:srgbClr val="254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15400" y="1508760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18320" y="1508760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21240" y="1508760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24160" y="1508760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27080" y="1508760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23960" y="2231136"/>
            <a:ext cx="2651760" cy="32004"/>
          </a:xfrm>
          <a:prstGeom prst="rect">
            <a:avLst/>
          </a:prstGeom>
          <a:solidFill>
            <a:srgbClr val="254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15400" y="2167128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0" y="2167128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21240" y="2167128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24160" y="2167128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27080" y="2167128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60" y="2889504"/>
            <a:ext cx="2651760" cy="32004"/>
          </a:xfrm>
          <a:prstGeom prst="rect">
            <a:avLst/>
          </a:prstGeom>
          <a:solidFill>
            <a:srgbClr val="254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15400" y="2825496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18320" y="2825496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21240" y="2825496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424160" y="2825496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927080" y="2825496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23960" y="3547872"/>
            <a:ext cx="2651760" cy="32004"/>
          </a:xfrm>
          <a:prstGeom prst="rect">
            <a:avLst/>
          </a:prstGeom>
          <a:solidFill>
            <a:srgbClr val="254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915400" y="3483864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0" y="3483864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921240" y="3483864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424160" y="3483864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927080" y="3483864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23960" y="4206240"/>
            <a:ext cx="2651760" cy="32004"/>
          </a:xfrm>
          <a:prstGeom prst="rect">
            <a:avLst/>
          </a:prstGeom>
          <a:solidFill>
            <a:srgbClr val="254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915400" y="4142231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418320" y="4142231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921240" y="4142231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424160" y="4142231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927080" y="4142231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23960" y="4864608"/>
            <a:ext cx="2651760" cy="32004"/>
          </a:xfrm>
          <a:prstGeom prst="rect">
            <a:avLst/>
          </a:prstGeom>
          <a:solidFill>
            <a:srgbClr val="254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15400" y="4800600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418320" y="4800600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921240" y="4800600"/>
            <a:ext cx="146304" cy="146304"/>
          </a:xfrm>
          <a:prstGeom prst="ellipse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424160" y="4800600"/>
            <a:ext cx="146304" cy="146304"/>
          </a:xfrm>
          <a:prstGeom prst="ellipse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927080" y="4800600"/>
            <a:ext cx="146304" cy="146304"/>
          </a:xfrm>
          <a:prstGeom prst="ellipse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1792" y="685800"/>
            <a:ext cx="109728" cy="960120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04672" y="685800"/>
            <a:ext cx="109728" cy="685800"/>
          </a:xfrm>
          <a:prstGeom prst="rect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43000" y="713232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36D2DC"/>
                </a:solidFill>
                <a:latin typeface="Aptos"/>
              </a:defRPr>
            </a:pPr>
            <a:r>
              <a:t>PROJECT EXPO  •  DIGITAL LOGIC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1508760"/>
            <a:ext cx="758952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400" b="1">
                <a:solidFill>
                  <a:srgbClr val="F8FBFF"/>
                </a:solidFill>
                <a:latin typeface="Aptos"/>
              </a:defRPr>
            </a:pPr>
            <a:r>
              <a:t>8-BIT SIPO</a:t>
            </a:r>
            <a:br/>
            <a:r>
              <a:t>SHIFT REGISTER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3246120"/>
            <a:ext cx="6675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46DCAA"/>
                </a:solidFill>
                <a:latin typeface="Aptos"/>
              </a:defRPr>
            </a:pPr>
            <a:r>
              <a:t>Serial-In  →  Parallel-Out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" y="3822191"/>
            <a:ext cx="68580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0">
                <a:solidFill>
                  <a:srgbClr val="CADAEF"/>
                </a:solidFill>
                <a:latin typeface="Aptos"/>
              </a:defRPr>
            </a:pPr>
            <a:r>
              <a:t>A compact digital circuit that receives data one bit at a time</a:t>
            </a:r>
            <a:br/>
            <a:r>
              <a:t>and presents an 8-bit word simultaneously.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39" y="5010911"/>
            <a:ext cx="7443893" cy="1508759"/>
          </a:xfrm>
          <a:prstGeom prst="roundRect">
            <a:avLst/>
          </a:prstGeom>
          <a:solidFill>
            <a:srgbClr val="132A4C"/>
          </a:solidFill>
          <a:ln>
            <a:solidFill>
              <a:srgbClr val="314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4128" y="5212080"/>
            <a:ext cx="67208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F8FBFF"/>
                </a:solidFill>
                <a:latin typeface="Aptos"/>
              </a:defRPr>
            </a:pPr>
            <a:r>
              <a:rPr dirty="0"/>
              <a:t>TEAM </a:t>
            </a:r>
            <a:r>
              <a:rPr lang="en-IN" dirty="0"/>
              <a:t>- 7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1074420" y="5449822"/>
            <a:ext cx="6579108" cy="13849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C3D3E8"/>
                </a:solidFill>
                <a:latin typeface="Aptos"/>
              </a:defRPr>
            </a:pPr>
            <a:r>
              <a:rPr lang="en-IN" dirty="0"/>
              <a:t>2620030442    -  M.N.P. Vaishnavi</a:t>
            </a:r>
          </a:p>
          <a:p>
            <a:pPr>
              <a:defRPr sz="1200" b="0">
                <a:solidFill>
                  <a:srgbClr val="C3D3E8"/>
                </a:solidFill>
                <a:latin typeface="Aptos"/>
              </a:defRPr>
            </a:pPr>
            <a:r>
              <a:rPr lang="en-IN" dirty="0"/>
              <a:t>2620030495    -  K. </a:t>
            </a:r>
            <a:r>
              <a:rPr lang="en-IN" dirty="0" err="1"/>
              <a:t>Keerthipriya</a:t>
            </a:r>
            <a:endParaRPr lang="en-IN" dirty="0"/>
          </a:p>
          <a:p>
            <a:pPr algn="l">
              <a:defRPr sz="1200" b="0">
                <a:solidFill>
                  <a:srgbClr val="C3D3E8"/>
                </a:solidFill>
                <a:latin typeface="Aptos"/>
              </a:defRPr>
            </a:pPr>
            <a:r>
              <a:rPr lang="en-IN" dirty="0"/>
              <a:t>2620030455    -  T. Abhigna</a:t>
            </a:r>
          </a:p>
          <a:p>
            <a:pPr algn="l">
              <a:defRPr sz="1200" b="0">
                <a:solidFill>
                  <a:srgbClr val="C3D3E8"/>
                </a:solidFill>
                <a:latin typeface="Aptos"/>
              </a:defRPr>
            </a:pPr>
            <a:r>
              <a:rPr lang="en-IN" dirty="0"/>
              <a:t>2620030474     -  K. Rishabh Reddy</a:t>
            </a:r>
          </a:p>
          <a:p>
            <a:pPr algn="l">
              <a:defRPr sz="1200" b="0">
                <a:solidFill>
                  <a:srgbClr val="C3D3E8"/>
                </a:solidFill>
                <a:latin typeface="Aptos"/>
              </a:defRPr>
            </a:pPr>
            <a:endParaRPr lang="en-IN" dirty="0"/>
          </a:p>
          <a:p>
            <a:pPr algn="l">
              <a:defRPr sz="1200" b="0">
                <a:solidFill>
                  <a:srgbClr val="C3D3E8"/>
                </a:solidFill>
                <a:latin typeface="Aptos"/>
              </a:defRPr>
            </a:pPr>
            <a:endParaRPr lang="en-IN" dirty="0"/>
          </a:p>
          <a:p>
            <a:pPr algn="l">
              <a:defRPr sz="1200" b="0">
                <a:solidFill>
                  <a:srgbClr val="C3D3E8"/>
                </a:solidFill>
                <a:latin typeface="Aptos"/>
              </a:defRPr>
            </a:pPr>
            <a:endParaRPr dirty="0"/>
          </a:p>
        </p:txBody>
      </p:sp>
      <p:sp>
        <p:nvSpPr>
          <p:cNvPr id="53" name="TextBox 52"/>
          <p:cNvSpPr txBox="1"/>
          <p:nvPr/>
        </p:nvSpPr>
        <p:spPr>
          <a:xfrm>
            <a:off x="9372600" y="2148840"/>
            <a:ext cx="1463040" cy="1554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7600" b="1">
                <a:solidFill>
                  <a:srgbClr val="36D2D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370332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8FBFF"/>
                </a:solidFill>
                <a:latin typeface="Aptos"/>
              </a:defRPr>
            </a:pPr>
            <a:r>
              <a:t>STAGES  •  8 OUTPUTS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411480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46DCAA"/>
                </a:solidFill>
                <a:latin typeface="Aptos"/>
              </a:defRPr>
            </a:pPr>
            <a:r>
              <a:t>SHIFT  |  STORE  |  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0A1830"/>
                </a:solidFill>
                <a:latin typeface="Aptos"/>
              </a:defRPr>
            </a:pPr>
            <a:r>
              <a:t>Why an 8-bit SIPO register?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3768F"/>
                </a:solidFill>
                <a:latin typeface="Aptos"/>
              </a:defRPr>
            </a:pPr>
            <a:r>
              <a:t>02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02412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2675DE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7315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0A1830"/>
                </a:solidFill>
                <a:latin typeface="Aptos"/>
              </a:defRPr>
            </a:pPr>
            <a:r>
              <a:t>One wire in. Eight bits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65960"/>
            <a:ext cx="10698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0">
                <a:solidFill>
                  <a:srgbClr val="202E43"/>
                </a:solidFill>
                <a:latin typeface="Aptos"/>
              </a:defRPr>
            </a:pPr>
            <a:r>
              <a:t>Digital systems often receive data serially to reduce the number of wires. A SIPO register collects those bits across clock pulses and makes them available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3429000" cy="1417320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68580" cy="1417320"/>
          </a:xfrm>
          <a:prstGeom prst="rect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20954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01 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84448"/>
            <a:ext cx="306324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202E43"/>
                </a:solidFill>
                <a:latin typeface="Aptos"/>
              </a:defRPr>
            </a:pPr>
            <a:r>
              <a:t>Serial input SI supplies one bit per active clock edge.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063240"/>
            <a:ext cx="3429000" cy="1417320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3063240"/>
            <a:ext cx="68580" cy="1417320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320954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02 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584448"/>
            <a:ext cx="306324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202E43"/>
                </a:solidFill>
                <a:latin typeface="Aptos"/>
              </a:defRPr>
            </a:pPr>
            <a:r>
              <a:t>Eight D flip-flops hold the bits as they arrive.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063240"/>
            <a:ext cx="3429000" cy="1417320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3063240"/>
            <a:ext cx="68580" cy="1417320"/>
          </a:xfrm>
          <a:prstGeom prst="rect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320954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03 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584448"/>
            <a:ext cx="306324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202E43"/>
                </a:solidFill>
                <a:latin typeface="Aptos"/>
              </a:defRPr>
            </a:pPr>
            <a:r>
              <a:t>Q0–Q7 expose the stored word in parallel.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92040"/>
            <a:ext cx="10744200" cy="777240"/>
          </a:xfrm>
          <a:prstGeom prst="round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36D2DC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29200"/>
            <a:ext cx="8229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Aptos"/>
              </a:defRPr>
            </a:pPr>
            <a:r>
              <a:t>Design, implement and verify an 8-bit serial-to-parallel converter in Logisim.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0A1830"/>
                </a:solidFill>
                <a:latin typeface="Aptos"/>
              </a:defRPr>
            </a:pPr>
            <a:r>
              <a:t>Theory + Logic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3768F"/>
                </a:solidFill>
                <a:latin typeface="Aptos"/>
              </a:defRPr>
            </a:pPr>
            <a:r>
              <a:t>03  /  06</a:t>
            </a:r>
          </a:p>
        </p:txBody>
      </p:sp>
      <p:pic>
        <p:nvPicPr>
          <p:cNvPr id="5" name="Picture 4" descr="sipo_logi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822960"/>
            <a:ext cx="11155680" cy="43159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440680"/>
            <a:ext cx="3429000" cy="749808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5440680"/>
            <a:ext cx="68580" cy="749808"/>
          </a:xfrm>
          <a:prstGeom prst="rect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558698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D FLIP-FLOP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961888"/>
            <a:ext cx="3063240" cy="1280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202E43"/>
                </a:solidFill>
                <a:latin typeface="Aptos"/>
              </a:defRPr>
            </a:pPr>
            <a:r>
              <a:t>Stores one bit.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440680"/>
            <a:ext cx="3429000" cy="749808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5440680"/>
            <a:ext cx="68580" cy="749808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558698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COMMON CLOCK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5961888"/>
            <a:ext cx="3063240" cy="1280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202E43"/>
                </a:solidFill>
                <a:latin typeface="Aptos"/>
              </a:defRPr>
            </a:pPr>
            <a:r>
              <a:t>All stages update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440680"/>
            <a:ext cx="3429000" cy="749808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5440680"/>
            <a:ext cx="68580" cy="749808"/>
          </a:xfrm>
          <a:prstGeom prst="rect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5586984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SHIFT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5961888"/>
            <a:ext cx="3063240" cy="12801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202E43"/>
                </a:solidFill>
                <a:latin typeface="Aptos"/>
              </a:defRPr>
            </a:pPr>
            <a:r>
              <a:t>Q of one stage feeds next 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0A1830"/>
                </a:solidFill>
                <a:latin typeface="Aptos"/>
              </a:defRPr>
            </a:pPr>
            <a:r>
              <a:t>Build It in Logisim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3768F"/>
                </a:solidFill>
                <a:latin typeface="Aptos"/>
              </a:defRPr>
            </a:pPr>
            <a:r>
              <a:t>04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2675DE"/>
                </a:solidFill>
                <a:latin typeface="Aptos"/>
              </a:defRPr>
            </a:pPr>
            <a:r>
              <a:t>CIRCUIT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212080" cy="333756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2E43"/>
                </a:solidFill>
                <a:latin typeface="Aptos"/>
              </a:defRPr>
            </a:pPr>
            <a:r>
              <a:t>•  Place eight D flip-flops in a row.</a:t>
            </a:r>
          </a:p>
          <a:p>
            <a:pPr>
              <a:spcAft>
                <a:spcPts val="1000"/>
              </a:spcAft>
              <a:defRPr sz="1600">
                <a:solidFill>
                  <a:srgbClr val="202E43"/>
                </a:solidFill>
                <a:latin typeface="Aptos"/>
              </a:defRPr>
            </a:pPr>
            <a:r>
              <a:t>•  Connect SI to the first D input.</a:t>
            </a:r>
          </a:p>
          <a:p>
            <a:pPr>
              <a:spcAft>
                <a:spcPts val="1000"/>
              </a:spcAft>
              <a:defRPr sz="1600">
                <a:solidFill>
                  <a:srgbClr val="202E43"/>
                </a:solidFill>
                <a:latin typeface="Aptos"/>
              </a:defRPr>
            </a:pPr>
            <a:r>
              <a:t>•  Wire each Q to the next flip-flop’s D input.</a:t>
            </a:r>
          </a:p>
          <a:p>
            <a:pPr>
              <a:spcAft>
                <a:spcPts val="1000"/>
              </a:spcAft>
              <a:defRPr sz="1600">
                <a:solidFill>
                  <a:srgbClr val="202E43"/>
                </a:solidFill>
                <a:latin typeface="Aptos"/>
              </a:defRPr>
            </a:pPr>
            <a:r>
              <a:t>•  Connect one shared clock to all eight stages.</a:t>
            </a:r>
          </a:p>
          <a:p>
            <a:pPr>
              <a:spcAft>
                <a:spcPts val="1000"/>
              </a:spcAft>
              <a:defRPr sz="1600">
                <a:solidFill>
                  <a:srgbClr val="202E43"/>
                </a:solidFill>
                <a:latin typeface="Aptos"/>
              </a:defRPr>
            </a:pPr>
            <a:r>
              <a:t>•  Label Q0–Q7 as the parallel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13399" y="1078992"/>
            <a:ext cx="6366933" cy="3611880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ipo_logic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07573"/>
            <a:ext cx="5715000" cy="19696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502152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2675DE"/>
                </a:solidFill>
                <a:latin typeface="Aptos"/>
              </a:defRPr>
            </a:pPr>
            <a:r>
              <a:rPr dirty="0"/>
              <a:t>WIRING GUIDE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010912"/>
            <a:ext cx="10652760" cy="841248"/>
          </a:xfrm>
          <a:prstGeom prst="round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212080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36D2DC"/>
                </a:solidFill>
                <a:latin typeface="Aptos"/>
              </a:defRPr>
            </a:pPr>
            <a:r>
              <a:t>ON EACH RISING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5166360"/>
            <a:ext cx="7863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Aptos"/>
              </a:defRPr>
            </a:pPr>
            <a:r>
              <a:t>Q0 ← SI     •     Q1 ← old Q0     •     …     •     Q7 ← old Q6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53328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63768F"/>
                </a:solidFill>
                <a:latin typeface="Aptos"/>
              </a:defRPr>
            </a:pPr>
            <a:r>
              <a:t>Use the clock control in Logisim to step through the input sequence one bit at a time.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E385A4-20A1-F50D-1E87-F0518CAC8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305" y="1636776"/>
            <a:ext cx="5511882" cy="27249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13079A-89D2-24DE-4A3A-0483216A3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569339"/>
            <a:ext cx="5719572" cy="2859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0A1830"/>
                </a:solidFill>
                <a:latin typeface="Aptos"/>
              </a:defRPr>
            </a:pPr>
            <a:r>
              <a:t>Simulation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3768F"/>
                </a:solidFill>
                <a:latin typeface="Aptos"/>
              </a:defRPr>
            </a:pPr>
            <a:r>
              <a:t>05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87552"/>
            <a:ext cx="1828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2675DE"/>
                </a:solidFill>
                <a:latin typeface="Aptos"/>
              </a:defRPr>
            </a:pPr>
            <a:r>
              <a:t>TEST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65836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0A1830"/>
                </a:solidFill>
                <a:latin typeface="Aptos"/>
              </a:defRPr>
            </a:pPr>
            <a:r>
              <a:t>SI = 1, 0, 1, 1, 0, 0, 1,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63768F"/>
                </a:solidFill>
                <a:latin typeface="Aptos"/>
              </a:defRPr>
            </a:pPr>
            <a:r>
              <a:t>Assume the register starts at 00000000. Values below are written as Q7…Q0 after each rising edge.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331720"/>
          <a:ext cx="66751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BFF"/>
                          </a:solidFill>
                          <a:latin typeface="Aptos"/>
                        </a:defRPr>
                      </a:pPr>
                      <a:r>
                        <a:t>Clock</a:t>
                      </a:r>
                    </a:p>
                  </a:txBody>
                  <a:tcPr marL="54864" marR="36576" marT="22860" marB="22860">
                    <a:solidFill>
                      <a:srgbClr val="0A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BFF"/>
                          </a:solidFill>
                          <a:latin typeface="Aptos"/>
                        </a:defRPr>
                      </a:pPr>
                      <a:r>
                        <a:t>SI</a:t>
                      </a:r>
                    </a:p>
                  </a:txBody>
                  <a:tcPr marL="54864" marR="36576" marT="22860" marB="22860">
                    <a:solidFill>
                      <a:srgbClr val="0A18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BFF"/>
                          </a:solidFill>
                          <a:latin typeface="Aptos"/>
                        </a:defRPr>
                      </a:pPr>
                      <a:r>
                        <a:t>Register Q7…Q0</a:t>
                      </a:r>
                    </a:p>
                  </a:txBody>
                  <a:tcPr marL="54864" marR="36576" marT="22860" marB="22860">
                    <a:solidFill>
                      <a:srgbClr val="0A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Initial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00000000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00000001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00000010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00000101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00001011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00010110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00101100</a:t>
                      </a:r>
                    </a:p>
                  </a:txBody>
                  <a:tcPr marL="54864" marR="36576" marT="22860" marB="22860">
                    <a:solidFill>
                      <a:srgbClr val="EB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E43"/>
                          </a:solidFill>
                          <a:latin typeface="Aptos"/>
                        </a:defRPr>
                      </a:pPr>
                      <a:r>
                        <a:t>01011001</a:t>
                      </a:r>
                    </a:p>
                  </a:txBody>
                  <a:tcPr marL="54864" marR="36576" marT="22860" marB="22860"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2395728"/>
            <a:ext cx="3429000" cy="1143000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2395728"/>
            <a:ext cx="68580" cy="1143000"/>
          </a:xfrm>
          <a:prstGeom prst="rect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2542032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AFTER EDGE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2916936"/>
            <a:ext cx="3063240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700" b="0">
                <a:solidFill>
                  <a:srgbClr val="202E43"/>
                </a:solidFill>
                <a:latin typeface="Aptos"/>
              </a:defRPr>
            </a:pPr>
            <a:r>
              <a:t>Q7…Q0 = 10110010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767328"/>
            <a:ext cx="3429000" cy="1234440"/>
          </a:xfrm>
          <a:prstGeom prst="roundRect">
            <a:avLst/>
          </a:prstGeom>
          <a:solidFill>
            <a:srgbClr val="EBF3FD"/>
          </a:solidFill>
          <a:ln>
            <a:solidFill>
              <a:srgbClr val="D0E0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3767328"/>
            <a:ext cx="68580" cy="1234440"/>
          </a:xfrm>
          <a:prstGeom prst="rect">
            <a:avLst/>
          </a:prstGeom>
          <a:solidFill>
            <a:srgbClr val="267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3913632"/>
            <a:ext cx="3063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0A1830"/>
                </a:solidFill>
                <a:latin typeface="Aptos"/>
              </a:defRPr>
            </a:pPr>
            <a:r>
              <a:t>EXPECTED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4288536"/>
            <a:ext cx="3063240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202E43"/>
                </a:solidFill>
                <a:latin typeface="Aptos"/>
              </a:defRPr>
            </a:pPr>
            <a:r>
              <a:t>Each new bit enters Q0; older bits move toward Q7.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80760"/>
            <a:ext cx="6858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1">
                <a:solidFill>
                  <a:srgbClr val="2675DE"/>
                </a:solidFill>
                <a:latin typeface="Aptos"/>
              </a:defRPr>
            </a:pPr>
            <a:r>
              <a:t>Final row after edge 8: SI = 0  →  10110010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F8FBFF"/>
                </a:solidFill>
                <a:latin typeface="Aptos"/>
              </a:defRPr>
            </a:pPr>
            <a:r>
              <a:t>Conclusion +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510528"/>
            <a:ext cx="868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AEC0D8"/>
                </a:solidFill>
                <a:latin typeface="Aptos"/>
              </a:defRPr>
            </a:pPr>
            <a:r>
              <a:t>06  /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5212080" cy="1600200"/>
          </a:xfrm>
          <a:prstGeom prst="roundRect">
            <a:avLst/>
          </a:prstGeom>
          <a:solidFill>
            <a:srgbClr val="132A4C"/>
          </a:solidFill>
          <a:ln>
            <a:solidFill>
              <a:srgbClr val="314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68580" cy="1600200"/>
          </a:xfrm>
          <a:prstGeom prst="rect">
            <a:avLst/>
          </a:prstGeom>
          <a:solidFill>
            <a:srgbClr val="36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261872"/>
            <a:ext cx="4846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36D2DC"/>
                </a:solidFill>
                <a:latin typeface="Aptos"/>
              </a:defRPr>
            </a:pPr>
            <a:r>
              <a:t>WHAT WE ACHIEVE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4846320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F8FBFF"/>
                </a:solidFill>
                <a:latin typeface="Aptos"/>
              </a:defRPr>
            </a:pPr>
            <a:r>
              <a:t>An 8-bit serial stream is collected over eight clock edges and made available as a parallel 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15568"/>
            <a:ext cx="5212080" cy="1600200"/>
          </a:xfrm>
          <a:prstGeom prst="roundRect">
            <a:avLst/>
          </a:prstGeom>
          <a:solidFill>
            <a:srgbClr val="132A4C"/>
          </a:solidFill>
          <a:ln>
            <a:solidFill>
              <a:srgbClr val="314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15568"/>
            <a:ext cx="68580" cy="1600200"/>
          </a:xfrm>
          <a:prstGeom prst="rect">
            <a:avLst/>
          </a:prstGeom>
          <a:solidFill>
            <a:srgbClr val="46D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4846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36D2DC"/>
                </a:solidFill>
                <a:latin typeface="Aptos"/>
              </a:defRPr>
            </a:pPr>
            <a:r>
              <a:t>WHERE IT IS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36776"/>
            <a:ext cx="4846320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F8FBFF"/>
                </a:solidFill>
                <a:latin typeface="Aptos"/>
              </a:defRPr>
            </a:pPr>
            <a:r>
              <a:t>• Serial-to-parallel conversion</a:t>
            </a:r>
            <a:br/>
            <a:r>
              <a:t>• Microcontroller interfaces</a:t>
            </a:r>
            <a:br/>
            <a:r>
              <a:t>• Expanding digital outputs</a:t>
            </a:r>
            <a:br/>
            <a:r>
              <a:t>• Communication and data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3657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36D2DC"/>
                </a:solidFill>
                <a:latin typeface="Aptos"/>
              </a:defRPr>
            </a:pPr>
            <a:r>
              <a:t>POSSIBLE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566160"/>
            <a:ext cx="10332720" cy="123444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•  Add reset/clear to initialize all stages.</a:t>
            </a:r>
          </a:p>
          <a:p>
            <a:pPr>
              <a:spcAft>
                <a:spcPts val="9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•  Add enable control to pause shifting.</a:t>
            </a:r>
          </a:p>
          <a:p>
            <a:pPr>
              <a:spcAft>
                <a:spcPts val="900"/>
              </a:spcAft>
              <a:defRPr sz="1600">
                <a:solidFill>
                  <a:srgbClr val="F8FBFF"/>
                </a:solidFill>
                <a:latin typeface="Aptos"/>
              </a:defRPr>
            </a:pPr>
            <a:r>
              <a:t>•  Test multiple input patterns and verify every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257800"/>
            <a:ext cx="5257800" cy="749808"/>
          </a:xfrm>
          <a:prstGeom prst="roundRect">
            <a:avLst/>
          </a:prstGeom>
          <a:solidFill>
            <a:srgbClr val="132A4C"/>
          </a:solidFill>
          <a:ln>
            <a:solidFill>
              <a:srgbClr val="314D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5413248"/>
            <a:ext cx="49834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400" b="1">
                <a:solidFill>
                  <a:srgbClr val="F8FB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17920"/>
            <a:ext cx="10515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ADC2DD"/>
                </a:solidFill>
                <a:latin typeface="Aptos"/>
              </a:defRPr>
            </a:pPr>
            <a:r>
              <a:rPr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487</Words>
  <Application>Microsoft Office PowerPoint</Application>
  <PresentationFormat>Widescreen</PresentationFormat>
  <Paragraphs>95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 Prabha Vaishnavi Marthi</cp:lastModifiedBy>
  <cp:revision>7</cp:revision>
  <dcterms:created xsi:type="dcterms:W3CDTF">2013-01-27T09:14:16Z</dcterms:created>
  <dcterms:modified xsi:type="dcterms:W3CDTF">2026-10-23T05:47:58Z</dcterms:modified>
  <cp:category/>
</cp:coreProperties>
</file>